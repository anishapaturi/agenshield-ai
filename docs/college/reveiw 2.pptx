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77" r:id="rId3"/>
    <p:sldId id="258" r:id="rId4"/>
    <p:sldId id="259" r:id="rId5"/>
    <p:sldId id="260" r:id="rId6"/>
    <p:sldId id="272" r:id="rId7"/>
    <p:sldId id="264" r:id="rId8"/>
    <p:sldId id="265" r:id="rId9"/>
    <p:sldId id="263" r:id="rId10"/>
    <p:sldId id="283" r:id="rId11"/>
    <p:sldId id="284" r:id="rId12"/>
    <p:sldId id="266" r:id="rId13"/>
    <p:sldId id="269" r:id="rId14"/>
    <p:sldId id="268" r:id="rId15"/>
    <p:sldId id="285" r:id="rId16"/>
    <p:sldId id="286" r:id="rId17"/>
    <p:sldId id="287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BE967-C1A6-4FAB-638A-3B4E6D9B30E5}" v="175" dt="2026-07-31T09:36:52.228"/>
    <p1510:client id="{A8F0C445-962E-187E-5D6D-9E491BA6EE79}" v="7" dt="2026-07-30T17:38:01.465"/>
    <p1510:client id="{C5FC8D1C-7432-4675-9376-5403156D32F5}" v="184" dt="2026-07-30T17:35:18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31T11:00:54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16837 11080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AFC6C-A26A-44D3-A05C-91B2DA6A21DD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9F762-C836-435F-BDEA-927BFA9C0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15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7613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D315-1030-2B80-D0DB-7DEEC51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7340B-0DDE-10DC-409E-BA063EBE4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7A8D4-3527-9309-0A5E-0475A385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D2761-D1A7-DE4C-7344-6C081C8E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8F2B-4F0D-DBBF-0776-26DB5020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622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A110-943C-23F5-1EB3-12DABC3B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FC8E-FF6E-CAA4-BF99-DDC6A7CE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43755-E77B-2AD8-9864-3CCCD43D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A0D81-0C2A-C1D4-89B6-8AE90F95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9370B-01DE-CE63-36D5-96A9D825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44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0AC2-F784-0AF0-F3ED-DBCD17B7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271C8-4BB8-81BF-3E48-A331E363C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B16BC-0E70-2E48-7097-0DFE7C08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047D9-7A7D-1CD5-72A5-F76FBD2C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091CC-B299-657A-2C84-A5F2F888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07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F06C-0D22-B95A-3B46-31C419CC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3E89-D75F-3A4E-A217-F46B0DA8C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10F7D-6F60-6DB0-0E74-8FEE6CE09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72328-69C6-F435-4813-270551D6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3F8F5-C5C9-48DC-1308-5E0A2373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24BD1-9CE1-C3C2-B124-AE134159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43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B79-7BBE-B26E-CD11-6E073F01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82D61-2728-EA99-834D-7D09F97DF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F1A8-9E4B-1F46-6A76-FE7DBEDDB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FC5FE-7EE0-3067-D9E3-E1B7ACBE5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1A719-3264-25D2-762F-27B02CA5E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678265-E976-C256-95D8-A8912C72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36777-CC57-C820-BF8C-8D0CF23D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80B76-8FA3-06A7-902F-E352C63C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0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CDFE-68BE-C53D-F11D-3E85BE70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0FBA4-BC6C-DAE9-B28F-131F14F4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C68B9-31A8-4792-F49D-2952126B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6716E-C2BA-F748-85E9-7F031195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49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5A6AF-4CC8-54AC-FA16-AEBA470B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E6884A-7660-6A22-843A-FB82205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05E15-4ACF-A3B3-FBFE-4D73E8C1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42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DFCA-286F-443B-15DC-CADE0C67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B1CB-9637-A0B8-1EFC-6E5BAA21A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B3AB0-8AC3-63AC-1867-1D3D46D4C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CEAB7-F5DA-BFC5-0365-4BAA0BDA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23004-B909-75B9-5143-716F19EB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6B2E9-27EC-85B8-C336-7F459E3F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5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E309-44E4-B050-60D6-980FBE7A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88B82-D5EF-6449-0E46-6018B42DF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D7B3C-D6F6-9D71-843F-F55A49107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F7285-2883-A37B-1978-0DD70F53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ABE42-D47A-22EE-D00F-DD65496D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BA2B4-747B-B0E4-0325-9ECD9E41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6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300C-8D5E-D5B2-0D9C-8B274A85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BF644-E307-4898-579B-2F5C0191A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9926B-92DB-5030-6C8D-3414FB88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860F0-C556-9493-9C42-3D2CFC4C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6D93-20CC-08BA-CC36-537C3CBB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33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B8D19-A675-BB65-B565-649B72C34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27A4D-9F97-4C16-820B-FB05610C8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C3344-B033-4A65-2E60-A222E42C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87110-36C5-4A97-F84F-1B07FCA2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5307-4E04-5972-AF84-0BCBF9A0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349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724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608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0892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055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3808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5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1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6438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818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723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37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2A23B-DBCE-C62C-1265-F31E2A5A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9A17-E8A7-6E20-0EA8-D838BF9B6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0BCC5-47DA-7507-8175-520644C0A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DAB4-64D8-47E1-86DF-DDDBF407C837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7B08C-E7C0-E7FA-87A6-2B08C5BC0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213AB-30A1-72C4-9F44-AB53ADE85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67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kern="0"/>
              <a:pPr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1025052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898421" y="3165988"/>
            <a:ext cx="10370574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0000"/>
          </a:bodyPr>
          <a:lstStyle/>
          <a:p>
            <a:pPr lvl="0">
              <a:buSzPct val="9660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Behavioral-Drift Fraud Detector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with Personalized Baselines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Rupa Devi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84;p1"/>
          <p:cNvSpPr txBox="1">
            <a:spLocks/>
          </p:cNvSpPr>
          <p:nvPr/>
        </p:nvSpPr>
        <p:spPr>
          <a:xfrm>
            <a:off x="7973960" y="5107858"/>
            <a:ext cx="4308987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 members: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A.Abhinava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  <a:b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S.Sandeep</a:t>
            </a: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Rao</a:t>
            </a:r>
            <a:b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Sritej</a:t>
            </a:r>
            <a:b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Gunavardhan</a:t>
            </a:r>
            <a:endParaRPr kumimoji="0" lang="en-US" sz="468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701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9" y="1634099"/>
            <a:ext cx="6656438" cy="468312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/>
              <a:t>Credit card fraud is rising rapidly worldwide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Banks cannot share raw customer data due to privacy laws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Federated Learning enables collaborative model training without data sharing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Existing FL systems only learn generic, global fraud patterns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Proposed work adds personalized behavioral-drift detection per user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Improves fraud detection accuracy while reducing false positives</a:t>
            </a:r>
          </a:p>
        </p:txBody>
      </p:sp>
      <p:pic>
        <p:nvPicPr>
          <p:cNvPr id="2" name="Picture 1" descr="Credit Card Fraud Detection Using SMOTE Technique – AI Journey">
            <a:extLst>
              <a:ext uri="{FF2B5EF4-FFF2-40B4-BE49-F238E27FC236}">
                <a16:creationId xmlns:a16="http://schemas.microsoft.com/office/drawing/2014/main" id="{6D0764E3-57F4-B005-13CF-54714E66B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877" y="1634099"/>
            <a:ext cx="4867275" cy="3305175"/>
          </a:xfrm>
          <a:prstGeom prst="flowChartAlternateProcess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60719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845C0F-7AF1-DB33-82E5-4A4C6C3FC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648" y="235258"/>
            <a:ext cx="3457112" cy="5403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72EF29-A4E5-59DD-90B1-5923D01CE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69" y="1376038"/>
            <a:ext cx="7188825" cy="466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0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Existing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82632" y="1671089"/>
            <a:ext cx="5485590" cy="46461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Workflow:</a:t>
            </a:r>
            <a:r>
              <a:rPr lang="en-US" sz="2000">
                <a:ea typeface="+mn-lt"/>
                <a:cs typeface="+mn-lt"/>
              </a:rPr>
              <a:t> Local transaction data is processed by each bank, and model updates are aggregated into a global fraud detection model. </a:t>
            </a:r>
            <a:endParaRPr lang="en-US"/>
          </a:p>
          <a:p>
            <a:r>
              <a:rPr lang="en-US" sz="2000" b="1">
                <a:ea typeface="+mn-lt"/>
                <a:cs typeface="+mn-lt"/>
              </a:rPr>
              <a:t>Advantage:</a:t>
            </a:r>
            <a:r>
              <a:rPr lang="en-US" sz="2000">
                <a:ea typeface="+mn-lt"/>
                <a:cs typeface="+mn-lt"/>
              </a:rPr>
              <a:t> Preserves customer privacy by keeping raw transaction data local. </a:t>
            </a:r>
            <a:endParaRPr lang="en-US"/>
          </a:p>
          <a:p>
            <a:r>
              <a:rPr lang="en-US" sz="2000" b="1">
                <a:ea typeface="+mn-lt"/>
                <a:cs typeface="+mn-lt"/>
              </a:rPr>
              <a:t>Advantage:</a:t>
            </a:r>
            <a:r>
              <a:rPr lang="en-US" sz="2000">
                <a:ea typeface="+mn-lt"/>
                <a:cs typeface="+mn-lt"/>
              </a:rPr>
              <a:t> Enables collaborative learning across multiple financial institutions. </a:t>
            </a:r>
            <a:endParaRPr lang="en-US"/>
          </a:p>
          <a:p>
            <a:r>
              <a:rPr lang="en-US" sz="2000" b="1">
                <a:ea typeface="+mn-lt"/>
                <a:cs typeface="+mn-lt"/>
              </a:rPr>
              <a:t>Limitation:</a:t>
            </a:r>
            <a:r>
              <a:rPr lang="en-US" sz="2000">
                <a:ea typeface="+mn-lt"/>
                <a:cs typeface="+mn-lt"/>
              </a:rPr>
              <a:t> Learns only global fraud patterns without user-specific personalization. </a:t>
            </a:r>
            <a:endParaRPr lang="en-US"/>
          </a:p>
          <a:p>
            <a:r>
              <a:rPr lang="en-US" sz="2000" b="1">
                <a:ea typeface="+mn-lt"/>
                <a:cs typeface="+mn-lt"/>
              </a:rPr>
              <a:t>Limitation:</a:t>
            </a:r>
            <a:r>
              <a:rPr lang="en-US" sz="2000">
                <a:ea typeface="+mn-lt"/>
                <a:cs typeface="+mn-lt"/>
              </a:rPr>
              <a:t> Higher false positives for users with unique spending behaviors.</a:t>
            </a:r>
            <a:endParaRPr lang="en-US" sz="12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5AA711-3920-E299-EDA0-F6BF7B80B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51" y="236416"/>
            <a:ext cx="5780662" cy="634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0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15FD-AFD5-8870-8303-700E2BF3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206DA9E-B692-8CD4-0C09-22C98078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Disadvantages of Existing System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8270C82-2A94-7856-D368-E4C04ADD8BB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1237" y="1713927"/>
            <a:ext cx="5192838" cy="462506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/>
              <a:t>No user-level personalization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Higher false positive rate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Ignores individual behavioral history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Treats every transaction independently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No sequential or temporal learning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14060B9-3BB4-201A-4363-3748A3D18B81}"/>
                  </a:ext>
                </a:extLst>
              </p14:cNvPr>
              <p14:cNvContentPartPr/>
              <p14:nvPr/>
            </p14:nvContentPartPr>
            <p14:xfrm>
              <a:off x="8942402" y="4583212"/>
              <a:ext cx="14796" cy="14796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14060B9-3BB4-201A-4363-3748A3D18B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02602" y="3858208"/>
                <a:ext cx="1479600" cy="14796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52CED9D-93C9-2C0E-6158-0BBB3B81E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863" y="1364342"/>
            <a:ext cx="6283476" cy="511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8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299180" y="1713926"/>
            <a:ext cx="6194323" cy="462506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/>
              <a:t>Workflow: Transaction → Global FL Model → Fraud Probability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Behavioral Drift Module compares activity to the user's personal baseline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Final Fraud Score = Global Prediction + Drift Score → Decision</a:t>
            </a:r>
          </a:p>
          <a:p>
            <a:pPr>
              <a:spcBef>
                <a:spcPts val="1200"/>
              </a:spcBef>
            </a:pPr>
            <a:r>
              <a:rPr lang="en-US" sz="2000" b="1" dirty="0"/>
              <a:t>Key point: </a:t>
            </a:r>
            <a:r>
              <a:rPr lang="en-US" sz="2000" dirty="0"/>
              <a:t>Behavioral profile stays local — never leaves the bank</a:t>
            </a:r>
          </a:p>
          <a:p>
            <a:pPr>
              <a:spcBef>
                <a:spcPts val="1200"/>
              </a:spcBef>
            </a:pPr>
            <a:r>
              <a:rPr lang="en-US" sz="2000" b="1" dirty="0"/>
              <a:t>Key takeaway: </a:t>
            </a:r>
            <a:r>
              <a:rPr lang="en-US" sz="2000" dirty="0"/>
              <a:t>Combines collective intelligence with individual context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435F49-CE87-605F-E30D-621D9159F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939" y="1502228"/>
            <a:ext cx="5857609" cy="447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6914" y="3080"/>
            <a:ext cx="10972800" cy="1143000"/>
          </a:xfrm>
        </p:spPr>
        <p:txBody>
          <a:bodyPr/>
          <a:lstStyle/>
          <a:p>
            <a:r>
              <a:rPr lang="en-US" dirty="0"/>
              <a:t>Advantages of Proposed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931664-C616-EEE4-10AD-5DFA3D315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71"/>
          <a:stretch>
            <a:fillRect/>
          </a:stretch>
        </p:blipFill>
        <p:spPr>
          <a:xfrm>
            <a:off x="1462995" y="870858"/>
            <a:ext cx="9324077" cy="598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5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Architecture Diagram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76766" y="1661313"/>
            <a:ext cx="4697538" cy="465591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200" dirty="0"/>
              <a:t>Central FL Server → Global Model → sent to Bank A, Bank B, Bank C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Each bank: Transactions → Local Model → Behavior Profile → Drift Score → Final Score</a:t>
            </a:r>
          </a:p>
          <a:p>
            <a:pPr>
              <a:spcBef>
                <a:spcPts val="1200"/>
              </a:spcBef>
            </a:pPr>
            <a:r>
              <a:rPr lang="en-US" sz="2200" b="1" dirty="0"/>
              <a:t>Privacy rule: </a:t>
            </a:r>
            <a:r>
              <a:rPr lang="en-US" sz="2200" dirty="0"/>
              <a:t>Only model weights return to the server</a:t>
            </a:r>
          </a:p>
          <a:p>
            <a:pPr>
              <a:spcBef>
                <a:spcPts val="1200"/>
              </a:spcBef>
            </a:pPr>
            <a:r>
              <a:rPr lang="en-US" sz="2200" b="1" dirty="0"/>
              <a:t>Privacy rule: </a:t>
            </a:r>
            <a:r>
              <a:rPr lang="en-US" sz="2200" dirty="0"/>
              <a:t>No customer data ever leaves any bank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2386D2-5254-421B-2144-71CC2935D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403" y="217714"/>
            <a:ext cx="5967923" cy="643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AE1D-ADC2-318A-64EF-4D453ED65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86" y="-116794"/>
            <a:ext cx="6683828" cy="1712685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ea typeface="Calibri Light"/>
                <a:cs typeface="Calibri Light"/>
              </a:rPr>
              <a:t>Architecture Diagram</a:t>
            </a:r>
          </a:p>
          <a:p>
            <a:endParaRPr lang="en-US" dirty="0">
              <a:ea typeface="Calibri Light"/>
              <a:cs typeface="Calibri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958E3-911F-5340-47FF-886874A2F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3" y="729343"/>
            <a:ext cx="11805843" cy="610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31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5A8DEE-BEBF-B640-1C47-330642E62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6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7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563D1B-DB7B-42D2-2E82-8C48BA96E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08" y="0"/>
            <a:ext cx="10777384" cy="675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0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290A17-33C5-4C79-BB07-1EB37D605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06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82227A-67BC-F2AF-4048-7CDA214EF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03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256EE4-0E81-3BCC-26F0-222C08F8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6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81731C-1516-F776-004C-7F8138FEE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64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11FB-5F2B-58D1-41A1-6EA67C7C7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4E1F0A-270F-7CD6-C9D3-EDBBD8A2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60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898421" y="3165988"/>
            <a:ext cx="10370574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/>
          <a:p>
            <a:pPr lvl="0">
              <a:buSzPct val="96609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84;p1"/>
          <p:cNvSpPr txBox="1">
            <a:spLocks/>
          </p:cNvSpPr>
          <p:nvPr/>
        </p:nvSpPr>
        <p:spPr>
          <a:xfrm>
            <a:off x="7973960" y="5107858"/>
            <a:ext cx="4308987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endParaRPr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468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7017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303</Words>
  <Application>Microsoft Office PowerPoint</Application>
  <PresentationFormat>Widescreen</PresentationFormat>
  <Paragraphs>41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1_Office Theme</vt:lpstr>
      <vt:lpstr>Behavioral-Drift Fraud Detector Federated Learning with Personalized Baselines Mrs. Rupa Devi </vt:lpstr>
      <vt:lpstr>Abstract</vt:lpstr>
      <vt:lpstr>Literature Survey</vt:lpstr>
      <vt:lpstr>Existing System</vt:lpstr>
      <vt:lpstr>Disadvantages of Existing System</vt:lpstr>
      <vt:lpstr>Proposed System</vt:lpstr>
      <vt:lpstr>Advantages of Proposed System</vt:lpstr>
      <vt:lpstr>Architecture Diagram</vt:lpstr>
      <vt:lpstr>Architecture Diagram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kirankumar99511@outlook.com</dc:creator>
  <cp:lastModifiedBy>Gunavardhan Yakkati</cp:lastModifiedBy>
  <cp:revision>200</cp:revision>
  <dcterms:created xsi:type="dcterms:W3CDTF">2026-07-23T09:24:57Z</dcterms:created>
  <dcterms:modified xsi:type="dcterms:W3CDTF">2026-09-18T14:41:59Z</dcterms:modified>
</cp:coreProperties>
</file>